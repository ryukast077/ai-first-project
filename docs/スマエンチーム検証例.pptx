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67" r:id="rId5"/>
    <p:sldId id="260" r:id="rId6"/>
    <p:sldId id="257" r:id="rId7"/>
    <p:sldId id="259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25EE1-5A2F-C75E-0713-9DC20E416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2447CF5-A29C-7472-125D-243A4148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6DEBD1-7A4B-BD2B-1793-568459256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F0F714-C714-9C19-AF6F-33789038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906E43-D877-BF88-88F4-77672801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93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8751BC-E1E0-EF0A-6F1F-BA46CA7D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AA796-81E6-4089-D88A-28A13C7B0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369C9B-13E1-6B47-1514-828630F6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A5E490-A04C-1B16-9817-12B64DFC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C1D35-B95F-4812-5D1C-CFB39A53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718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35A25B-BD6E-56EA-718F-8D7A970E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B22ACE-7F5E-47B3-4456-EAAA82DFA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FE3716-24BC-081F-C3A2-B4745554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7A63C-0D15-5AED-612C-7A7C0B16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828EC7-C9BF-6C91-F85B-DA6E38CD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483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0839F6-B332-2832-A763-D2DACCFE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A4FEC5-5A2A-8876-C317-243C4EBEF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907D52-4E97-B855-8B7E-A2EBDCC27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59FA77-8EFC-765C-29EF-CACE0A0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248F81-6181-F288-E8B4-05BA3239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4243EE-2CB3-4ED1-0ADA-AFE1DA9B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00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C7153A-E2D8-505C-B751-1A76F3B5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3D62D2-DEFA-78C5-B65F-10400A103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8E6CB9-5DE7-FF1A-79DF-519CA7425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CDF8DD-46DB-765A-9859-23278AFC9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A992722-6488-2D21-FADF-4B4C4CEBC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F632BD-7A16-AC4D-2911-9DB92F74D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57D238-A660-5949-6215-AFD8287A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8FB4DDF-449D-D4DB-DF38-5E4677D3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35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1D47B0-9A6F-CB7F-3AEA-39F54041D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C500732-5040-89F3-3E38-44BA0A66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31EC3D-73FF-F54D-2510-75413103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9B8A73-0D56-6208-7C05-04D06DAA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25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1DD17E9-95A4-EC98-6AED-331560E2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DA31A9-9C76-0A7E-1479-B77BAB67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A260FA-59EB-A32D-145E-5B3FC140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95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10B932-2A47-5BA5-EFFC-54525413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26E684-7001-C6E8-C079-C96D6CC87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7346C4-8A2B-9923-3D2C-B1DB6B975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816739-5646-CC69-C568-E63CD1A4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7159AE-D0D2-E3A0-B712-BC0BA892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4619E8-E4BD-EE96-461C-CB0BEDA7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451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E47B24-BD0A-7226-F51E-E28DFEC9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34FCB14-9E00-A39A-5C42-DEE08F70D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59F112-E4B7-3F5C-9DE6-94EB19BA0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5600EC-E9A2-34F2-E9D4-BDB79B73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1CAFF5-B7BB-55E0-35A1-A537749C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A4A777-B761-6521-2718-6D0597DE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15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B037C1-8BC3-3BA7-6CD0-67A4A0A8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64465D-EA2F-4C3B-9A82-07D13DD29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6BF2EF-522F-C43D-C5CA-163FC76E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E12766-9C9E-E988-205D-B5021AE1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D09E8-235F-EBAF-1465-4B6DAA46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281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2895692-68DA-37E9-FF51-8F5983AF8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0E8AA1-49A9-C5A3-48AB-25F8CD58C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024594-3096-FE6B-0B09-A1B4FF6B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E4EE0E-767D-009C-D0BE-25601743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A5F4BC-F761-B8FF-5F1C-8FC89344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48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CEB9F3-EE99-F848-492C-C269EC7E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4A3564-05E4-2C77-E3FB-6AC835BB8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C3D105-AF57-99D8-6625-4A37102FA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40007-7A90-448F-8C87-CF2DD9F52839}" type="datetimeFigureOut">
              <a:rPr kumimoji="1" lang="ja-JP" altLang="en-US" smtClean="0"/>
              <a:t>2026/3/29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A819E4-841A-ED4A-1412-E92AA7A5E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998C57-D40D-F527-AAA4-2C858BE92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5DAAB-5F95-459A-A0D1-5866407C9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50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77A11-D150-600B-97AE-12D40E614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スマエンチーム検証例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8789792-0050-393D-BA87-CCD956E0AA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駆動開発ガイドに則った実装結果</a:t>
            </a:r>
          </a:p>
        </p:txBody>
      </p:sp>
    </p:spTree>
    <p:extLst>
      <p:ext uri="{BB962C8B-B14F-4D97-AF65-F5344CB8AC3E}">
        <p14:creationId xmlns:p14="http://schemas.microsoft.com/office/powerpoint/2010/main" val="298751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924BA2-B2C4-B5FA-537E-45BAA4DF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42E6709C-081E-B0F3-924D-4DB5DCBA7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2067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1549-5B68-3D8C-3FED-5B5EF85A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A261A4-88C6-159D-6551-7A73C718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E4D86A-B7FE-05C3-407D-3ED1FCED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8883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EF76-F487-E3A3-1E6D-E6689366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8B6A80-D2F0-4949-8D06-9C81C8621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設計書①画面設計書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FD0B6D3-2FC8-262A-82E2-9E8287F8D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899" y="1652588"/>
            <a:ext cx="59145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97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ADF2D-FF31-1487-110C-B52E5377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431B7-38EE-37B9-FB18-DC1EE259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設計書②権限設計書</a:t>
            </a:r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121E8226-B639-FA27-EE41-563F7CCEE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9707332" cy="435133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A5D46A-3C7B-C7F0-8A03-560592224CC6}"/>
              </a:ext>
            </a:extLst>
          </p:cNvPr>
          <p:cNvSpPr txBox="1"/>
          <p:nvPr/>
        </p:nvSpPr>
        <p:spPr>
          <a:xfrm>
            <a:off x="914400" y="154678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ロール一覧・詳細・機能別アクセス権限マトリクスなど、権限別にできることを記載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2228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507E70-B531-4C90-A877-1B43E1EC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タスクリスト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644296A-8659-D45B-5590-08CB480EE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468367" cy="435133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711E02-23E2-1463-C215-DB372855B1D4}"/>
              </a:ext>
            </a:extLst>
          </p:cNvPr>
          <p:cNvSpPr txBox="1"/>
          <p:nvPr/>
        </p:nvSpPr>
        <p:spPr>
          <a:xfrm>
            <a:off x="6724073" y="1782618"/>
            <a:ext cx="43965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/tasks</a:t>
            </a:r>
            <a:r>
              <a:rPr kumimoji="1" lang="ja-JP" altLang="en-US" dirty="0"/>
              <a:t>で生成されたタスク一覧</a:t>
            </a:r>
            <a:endParaRPr kumimoji="1" lang="en-US" altLang="ja-JP" dirty="0"/>
          </a:p>
          <a:p>
            <a:pPr marL="285750" indent="-285750">
              <a:buFontTx/>
              <a:buChar char="-"/>
            </a:pPr>
            <a:r>
              <a:rPr lang="en-US" altLang="ja-JP" dirty="0"/>
              <a:t>C-001</a:t>
            </a:r>
            <a:r>
              <a:rPr lang="ja-JP" altLang="en-US" dirty="0"/>
              <a:t>：検索フォーム実装</a:t>
            </a:r>
            <a:endParaRPr lang="en-US" altLang="ja-JP" dirty="0"/>
          </a:p>
          <a:p>
            <a:pPr marL="285750" indent="-285750">
              <a:buFontTx/>
              <a:buChar char="-"/>
            </a:pPr>
            <a:r>
              <a:rPr kumimoji="1" lang="en-US" altLang="ja-JP" dirty="0"/>
              <a:t>C-002</a:t>
            </a:r>
            <a:r>
              <a:rPr kumimoji="1" lang="ja-JP" altLang="en-US" dirty="0"/>
              <a:t>：一覧表示機能実装</a:t>
            </a:r>
            <a:endParaRPr kumimoji="1" lang="en-US" altLang="ja-JP" dirty="0"/>
          </a:p>
          <a:p>
            <a:pPr marL="285750" indent="-285750">
              <a:buFontTx/>
              <a:buChar char="-"/>
            </a:pPr>
            <a:r>
              <a:rPr lang="en-US" altLang="ja-JP" dirty="0"/>
              <a:t>C-003</a:t>
            </a:r>
            <a:r>
              <a:rPr lang="ja-JP" altLang="en-US" dirty="0"/>
              <a:t>：権限制御・データフィルタリング実装</a:t>
            </a:r>
            <a:endParaRPr lang="en-US" altLang="ja-JP" dirty="0"/>
          </a:p>
          <a:p>
            <a:pPr marL="285750" indent="-285750">
              <a:buFontTx/>
              <a:buChar char="-"/>
            </a:pPr>
            <a:r>
              <a:rPr kumimoji="1" lang="en-US" altLang="ja-JP" dirty="0"/>
              <a:t>C-004</a:t>
            </a:r>
            <a:r>
              <a:rPr kumimoji="1" lang="ja-JP" altLang="en-US" dirty="0"/>
              <a:t>：詳細画面遷移・削除機能実装</a:t>
            </a:r>
            <a:endParaRPr kumimoji="1" lang="en-US" altLang="ja-JP" dirty="0"/>
          </a:p>
          <a:p>
            <a:pPr marL="285750" indent="-285750">
              <a:buFontTx/>
              <a:buChar char="-"/>
            </a:pPr>
            <a:r>
              <a:rPr lang="en-US" altLang="ja-JP" dirty="0"/>
              <a:t>C-005</a:t>
            </a:r>
            <a:r>
              <a:rPr lang="ja-JP" altLang="en-US" dirty="0"/>
              <a:t>：統合テスト・最終調整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785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EFFB52-00B8-B908-E12F-FAD21620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実装結果①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533DC1-BFBC-C04C-DB91-4E88338A985E}"/>
              </a:ext>
            </a:extLst>
          </p:cNvPr>
          <p:cNvSpPr txBox="1"/>
          <p:nvPr/>
        </p:nvSpPr>
        <p:spPr>
          <a:xfrm>
            <a:off x="7462982" y="2396868"/>
            <a:ext cx="3343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画面設計書のお知らせ情報表示エリアを実装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878A2845-A0BA-DFC0-627F-F7C7339C7652}"/>
              </a:ext>
            </a:extLst>
          </p:cNvPr>
          <p:cNvCxnSpPr>
            <a:cxnSpLocks/>
          </p:cNvCxnSpPr>
          <p:nvPr/>
        </p:nvCxnSpPr>
        <p:spPr>
          <a:xfrm flipV="1">
            <a:off x="5613960" y="1459345"/>
            <a:ext cx="1710476" cy="61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F18B68-38AE-CD93-CAA7-9A6524AEE64C}"/>
              </a:ext>
            </a:extLst>
          </p:cNvPr>
          <p:cNvSpPr txBox="1"/>
          <p:nvPr/>
        </p:nvSpPr>
        <p:spPr>
          <a:xfrm>
            <a:off x="7324436" y="1219414"/>
            <a:ext cx="3343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画面設計書のメニューリンク、ユーザー情報を実装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980AB68-B104-7300-13F1-EFA743653CF8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384799" y="2720034"/>
            <a:ext cx="2078183" cy="1029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6BB5B9-7025-F290-CA8D-C8EE55E7C0DC}"/>
              </a:ext>
            </a:extLst>
          </p:cNvPr>
          <p:cNvSpPr txBox="1"/>
          <p:nvPr/>
        </p:nvSpPr>
        <p:spPr>
          <a:xfrm>
            <a:off x="7878618" y="4564698"/>
            <a:ext cx="38607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点線箇所は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が自動で補完して作成</a:t>
            </a:r>
            <a:endParaRPr lang="en-US" altLang="ja-JP" dirty="0"/>
          </a:p>
          <a:p>
            <a:pPr marL="285750" indent="-285750">
              <a:buFontTx/>
              <a:buChar char="-"/>
            </a:pPr>
            <a:r>
              <a:rPr kumimoji="1" lang="ja-JP" altLang="en-US" dirty="0"/>
              <a:t>統計情報</a:t>
            </a:r>
            <a:endParaRPr kumimoji="1" lang="en-US" altLang="ja-JP" dirty="0"/>
          </a:p>
          <a:p>
            <a:pPr marL="285750" indent="-285750">
              <a:buFontTx/>
              <a:buChar char="-"/>
            </a:pPr>
            <a:r>
              <a:rPr lang="ja-JP" altLang="en-US" dirty="0"/>
              <a:t>直近の返品依頼</a:t>
            </a:r>
            <a:endParaRPr lang="en-US" altLang="ja-JP" dirty="0"/>
          </a:p>
          <a:p>
            <a:pPr marL="285750" indent="-285750">
              <a:buFontTx/>
              <a:buChar char="-"/>
            </a:pPr>
            <a:r>
              <a:rPr kumimoji="1" lang="ja-JP" altLang="en-US" dirty="0"/>
              <a:t>クイックアクション</a:t>
            </a:r>
            <a:endParaRPr kumimoji="1" lang="en-US" altLang="ja-JP" dirty="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F7FA06C-F1A6-BFA9-909B-94D7CD66431E}"/>
              </a:ext>
            </a:extLst>
          </p:cNvPr>
          <p:cNvCxnSpPr>
            <a:cxnSpLocks/>
          </p:cNvCxnSpPr>
          <p:nvPr/>
        </p:nvCxnSpPr>
        <p:spPr>
          <a:xfrm flipV="1">
            <a:off x="5523345" y="4747491"/>
            <a:ext cx="2355274" cy="147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3" name="コンテンツ プレースホルダー 22">
            <a:extLst>
              <a:ext uri="{FF2B5EF4-FFF2-40B4-BE49-F238E27FC236}">
                <a16:creationId xmlns:a16="http://schemas.microsoft.com/office/drawing/2014/main" id="{B07CFF4C-F44F-7C46-B240-AD313D1F2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641" y="1542579"/>
            <a:ext cx="45293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13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E50DB-5A36-6A19-614C-084F98C3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168913-1B05-2D45-55EC-15C74FE2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未完全な実装部分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52E62C1-67DC-657E-8130-6FA7214C8E6B}"/>
              </a:ext>
            </a:extLst>
          </p:cNvPr>
          <p:cNvSpPr txBox="1"/>
          <p:nvPr/>
        </p:nvSpPr>
        <p:spPr>
          <a:xfrm>
            <a:off x="7139708" y="1884325"/>
            <a:ext cx="4036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修正対象①：</a:t>
            </a:r>
            <a:br>
              <a:rPr lang="en-US" altLang="ja-JP" dirty="0"/>
            </a:br>
            <a:r>
              <a:rPr lang="ja-JP" altLang="en-US" dirty="0"/>
              <a:t>サイド</a:t>
            </a:r>
            <a:r>
              <a:rPr kumimoji="1" lang="ja-JP" altLang="en-US" dirty="0"/>
              <a:t>バーの部分にメニューが表示されていない</a:t>
            </a:r>
          </a:p>
        </p:txBody>
      </p:sp>
      <p:pic>
        <p:nvPicPr>
          <p:cNvPr id="23" name="コンテンツ プレースホルダー 22">
            <a:extLst>
              <a:ext uri="{FF2B5EF4-FFF2-40B4-BE49-F238E27FC236}">
                <a16:creationId xmlns:a16="http://schemas.microsoft.com/office/drawing/2014/main" id="{3871F63F-93EB-E33E-319D-59C42B6EC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641" y="1542579"/>
            <a:ext cx="4529319" cy="4351338"/>
          </a:xfrm>
          <a:prstGeom prst="rect">
            <a:avLst/>
          </a:prstGeom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ED422E48-A4A1-8DAE-A8BD-666520505CCA}"/>
              </a:ext>
            </a:extLst>
          </p:cNvPr>
          <p:cNvCxnSpPr>
            <a:cxnSpLocks/>
          </p:cNvCxnSpPr>
          <p:nvPr/>
        </p:nvCxnSpPr>
        <p:spPr>
          <a:xfrm flipV="1">
            <a:off x="5448300" y="3429000"/>
            <a:ext cx="1589809" cy="289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28C3DB2F-683A-CCA7-5829-8CD5252DC65D}"/>
              </a:ext>
            </a:extLst>
          </p:cNvPr>
          <p:cNvCxnSpPr>
            <a:cxnSpLocks/>
          </p:cNvCxnSpPr>
          <p:nvPr/>
        </p:nvCxnSpPr>
        <p:spPr>
          <a:xfrm>
            <a:off x="1708727" y="1985818"/>
            <a:ext cx="5329382" cy="120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602B611-2F97-7898-E8FC-AFAFB0EAE45C}"/>
              </a:ext>
            </a:extLst>
          </p:cNvPr>
          <p:cNvSpPr txBox="1"/>
          <p:nvPr/>
        </p:nvSpPr>
        <p:spPr>
          <a:xfrm>
            <a:off x="7071068" y="3145971"/>
            <a:ext cx="40362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修正対象②：</a:t>
            </a:r>
            <a:br>
              <a:rPr lang="en-US" altLang="ja-JP" dirty="0"/>
            </a:br>
            <a:r>
              <a:rPr lang="ja-JP" altLang="en-US" dirty="0"/>
              <a:t>お知らせが表示されない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9882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2995B-894C-43DD-87F3-FDB365AF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D28D6-9F4F-3806-2C82-95EC7CC0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修正例①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184D21-6C20-24F1-3CF5-76AC1E2E374C}"/>
              </a:ext>
            </a:extLst>
          </p:cNvPr>
          <p:cNvSpPr txBox="1"/>
          <p:nvPr/>
        </p:nvSpPr>
        <p:spPr>
          <a:xfrm>
            <a:off x="838200" y="1597997"/>
            <a:ext cx="8989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サイド</a:t>
            </a:r>
            <a:r>
              <a:rPr kumimoji="1" lang="ja-JP" altLang="en-US" dirty="0"/>
              <a:t>バーの部分にメニューが表示されていない問題を修正。</a:t>
            </a:r>
            <a:endParaRPr kumimoji="1" lang="en-US" altLang="ja-JP" dirty="0"/>
          </a:p>
          <a:p>
            <a:r>
              <a:rPr lang="ja-JP" altLang="en-US" dirty="0"/>
              <a:t>原因はサービス層で権限別の条件分岐の際に使用する</a:t>
            </a:r>
            <a:r>
              <a:rPr lang="ja-JP" altLang="en-US" b="1" dirty="0"/>
              <a:t>ロール名が</a:t>
            </a:r>
            <a:r>
              <a:rPr lang="en-US" altLang="ja-JP" b="1" dirty="0"/>
              <a:t>DB</a:t>
            </a:r>
            <a:r>
              <a:rPr lang="ja-JP" altLang="en-US" b="1" dirty="0"/>
              <a:t>に登録されているものと一致していない</a:t>
            </a:r>
            <a:r>
              <a:rPr lang="ja-JP" altLang="en-US" dirty="0"/>
              <a:t>（</a:t>
            </a:r>
            <a:r>
              <a:rPr lang="en-US" altLang="ja-JP" dirty="0"/>
              <a:t>DB</a:t>
            </a:r>
            <a:r>
              <a:rPr lang="ja-JP" altLang="en-US" dirty="0"/>
              <a:t>は設計書準拠のロール名）</a:t>
            </a:r>
            <a:endParaRPr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E909E6A-DBE1-00B7-D177-5FC09DC13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145"/>
          <a:stretch>
            <a:fillRect/>
          </a:stretch>
        </p:blipFill>
        <p:spPr>
          <a:xfrm>
            <a:off x="960448" y="2923559"/>
            <a:ext cx="3759334" cy="345972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B22FA02-16C0-E9BB-D1C3-0C4787584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863" y="2923560"/>
            <a:ext cx="5683069" cy="128299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CE0AA69-CA65-68EF-19F8-F31106B1B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185" y="4296268"/>
            <a:ext cx="2086266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05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CFC0-1B6B-005B-8F78-62343D40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817196-39D9-0E17-5B91-330DE4F9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修正例①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EC0A529-1D4C-69AB-6F49-D3598AD69887}"/>
              </a:ext>
            </a:extLst>
          </p:cNvPr>
          <p:cNvSpPr txBox="1"/>
          <p:nvPr/>
        </p:nvSpPr>
        <p:spPr>
          <a:xfrm>
            <a:off x="2117435" y="1430250"/>
            <a:ext cx="1821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b="1" dirty="0"/>
              <a:t>修正プロンプト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A8C6AA1-0F3C-E51C-7359-67C416D6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32928" r="13893" b="12694"/>
          <a:stretch>
            <a:fillRect/>
          </a:stretch>
        </p:blipFill>
        <p:spPr>
          <a:xfrm>
            <a:off x="6793211" y="1908475"/>
            <a:ext cx="4380345" cy="2362196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B31A4D1-F2FD-5C71-13E5-7786ED3B9541}"/>
              </a:ext>
            </a:extLst>
          </p:cNvPr>
          <p:cNvSpPr txBox="1"/>
          <p:nvPr/>
        </p:nvSpPr>
        <p:spPr>
          <a:xfrm>
            <a:off x="7899333" y="1430250"/>
            <a:ext cx="1821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b="1" dirty="0"/>
              <a:t>修正後コード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798EAB2-354F-4186-7365-7DEC1B2E092D}"/>
              </a:ext>
            </a:extLst>
          </p:cNvPr>
          <p:cNvSpPr/>
          <p:nvPr/>
        </p:nvSpPr>
        <p:spPr>
          <a:xfrm>
            <a:off x="7102763" y="1989294"/>
            <a:ext cx="1821873" cy="139469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7B80B1D-78D1-D9EB-291F-514044B246A7}"/>
              </a:ext>
            </a:extLst>
          </p:cNvPr>
          <p:cNvCxnSpPr/>
          <p:nvPr/>
        </p:nvCxnSpPr>
        <p:spPr>
          <a:xfrm>
            <a:off x="8931563" y="2358748"/>
            <a:ext cx="3879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EA0B951-BB84-F9E7-0269-BF783273DC06}"/>
              </a:ext>
            </a:extLst>
          </p:cNvPr>
          <p:cNvSpPr txBox="1"/>
          <p:nvPr/>
        </p:nvSpPr>
        <p:spPr>
          <a:xfrm>
            <a:off x="9336741" y="2219220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設計書準拠の</a:t>
            </a:r>
            <a:endParaRPr kumimoji="1" lang="en-US" altLang="ja-JP" sz="1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kumimoji="1" lang="ja-JP" alt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ロール名に修正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C2D2AC7E-DB52-2184-FDFC-9C8D900D0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097"/>
          <a:stretch>
            <a:fillRect/>
          </a:stretch>
        </p:blipFill>
        <p:spPr>
          <a:xfrm>
            <a:off x="6793211" y="4351490"/>
            <a:ext cx="2728841" cy="2345182"/>
          </a:xfrm>
          <a:prstGeom prst="rect">
            <a:avLst/>
          </a:prstGeom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591447D-42CE-39BC-1DB3-419E4DE47F7C}"/>
              </a:ext>
            </a:extLst>
          </p:cNvPr>
          <p:cNvSpPr/>
          <p:nvPr/>
        </p:nvSpPr>
        <p:spPr>
          <a:xfrm>
            <a:off x="1018445" y="1799582"/>
            <a:ext cx="4380345" cy="4788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/>
              <a:t># </a:t>
            </a:r>
            <a:r>
              <a:rPr lang="ja-JP" altLang="en-US" sz="1200" dirty="0"/>
              <a:t>依頼</a:t>
            </a:r>
          </a:p>
          <a:p>
            <a:r>
              <a:rPr lang="en-US" altLang="ja-JP" sz="1200" dirty="0"/>
              <a:t>LocalUserDetailsService.java </a:t>
            </a:r>
            <a:r>
              <a:rPr lang="ja-JP" altLang="en-US" sz="1200" dirty="0"/>
              <a:t>の </a:t>
            </a:r>
            <a:r>
              <a:rPr lang="en-US" altLang="ja-JP" sz="1200" dirty="0" err="1"/>
              <a:t>createAuthorities</a:t>
            </a:r>
            <a:r>
              <a:rPr lang="en-US" altLang="ja-JP" sz="1200" dirty="0"/>
              <a:t> </a:t>
            </a:r>
            <a:r>
              <a:rPr lang="ja-JP" altLang="en-US" sz="1200" dirty="0"/>
              <a:t>メソッドを修正してください</a:t>
            </a:r>
          </a:p>
          <a:p>
            <a:endParaRPr lang="ja-JP" altLang="en-US" sz="1200" dirty="0"/>
          </a:p>
          <a:p>
            <a:r>
              <a:rPr lang="en-US" altLang="ja-JP" sz="1200" dirty="0"/>
              <a:t>## </a:t>
            </a:r>
            <a:r>
              <a:rPr lang="ja-JP" altLang="en-US" sz="1200" dirty="0"/>
              <a:t>前提</a:t>
            </a:r>
          </a:p>
          <a:p>
            <a:r>
              <a:rPr lang="en-US" altLang="ja-JP" sz="1200" dirty="0"/>
              <a:t>- </a:t>
            </a:r>
            <a:r>
              <a:rPr lang="ja-JP" altLang="en-US" sz="1200" dirty="0"/>
              <a:t>許可されるロール</a:t>
            </a:r>
            <a:r>
              <a:rPr lang="en-US" altLang="ja-JP" sz="1200" dirty="0"/>
              <a:t>ID</a:t>
            </a:r>
          </a:p>
          <a:p>
            <a:r>
              <a:rPr lang="ja-JP" altLang="en-US" sz="1200" dirty="0"/>
              <a:t>ファイル</a:t>
            </a:r>
            <a:r>
              <a:rPr lang="en-US" altLang="ja-JP" sz="1200" dirty="0"/>
              <a:t>: 'docs\design\roles_permissions.md':87</a:t>
            </a:r>
          </a:p>
          <a:p>
            <a:endParaRPr lang="en-US" altLang="ja-JP" sz="1200" dirty="0"/>
          </a:p>
          <a:p>
            <a:r>
              <a:rPr lang="en-US" altLang="ja-JP" sz="1200" dirty="0"/>
              <a:t>## </a:t>
            </a:r>
            <a:r>
              <a:rPr lang="ja-JP" altLang="en-US" sz="1200" dirty="0"/>
              <a:t>修正対象</a:t>
            </a:r>
          </a:p>
          <a:p>
            <a:r>
              <a:rPr lang="ja-JP" altLang="en-US" sz="1200" dirty="0"/>
              <a:t>ファイル</a:t>
            </a:r>
            <a:r>
              <a:rPr lang="en-US" altLang="ja-JP" sz="1200" dirty="0"/>
              <a:t>: `return-workflow-system\</a:t>
            </a:r>
            <a:r>
              <a:rPr lang="en-US" altLang="ja-JP" sz="1200" dirty="0" err="1"/>
              <a:t>src</a:t>
            </a:r>
            <a:r>
              <a:rPr lang="en-US" altLang="ja-JP" sz="1200" dirty="0"/>
              <a:t>\main\java\com\planet\</a:t>
            </a:r>
            <a:r>
              <a:rPr lang="en-US" altLang="ja-JP" sz="1200" dirty="0" err="1"/>
              <a:t>returnworkflow</a:t>
            </a:r>
            <a:r>
              <a:rPr lang="en-US" altLang="ja-JP" sz="1200" dirty="0"/>
              <a:t>\service\LocalUserDetailsService.java`</a:t>
            </a:r>
          </a:p>
          <a:p>
            <a:r>
              <a:rPr lang="ja-JP" altLang="en-US" sz="1200" dirty="0"/>
              <a:t>メソッド</a:t>
            </a:r>
            <a:r>
              <a:rPr lang="en-US" altLang="ja-JP" sz="1200" dirty="0"/>
              <a:t>: `private List&lt;</a:t>
            </a:r>
            <a:r>
              <a:rPr lang="en-US" altLang="ja-JP" sz="1200" dirty="0" err="1"/>
              <a:t>SimpleGrantedAuthority</a:t>
            </a:r>
            <a:r>
              <a:rPr lang="en-US" altLang="ja-JP" sz="1200" dirty="0"/>
              <a:t>&gt; </a:t>
            </a:r>
            <a:r>
              <a:rPr lang="en-US" altLang="ja-JP" sz="1200" dirty="0" err="1"/>
              <a:t>createAuthorities</a:t>
            </a:r>
            <a:r>
              <a:rPr lang="en-US" altLang="ja-JP" sz="1200" dirty="0"/>
              <a:t>(</a:t>
            </a:r>
            <a:r>
              <a:rPr lang="en-US" altLang="ja-JP" sz="1200" dirty="0" err="1"/>
              <a:t>LocalUserAuth</a:t>
            </a:r>
            <a:r>
              <a:rPr lang="en-US" altLang="ja-JP" sz="1200" dirty="0"/>
              <a:t> user)`</a:t>
            </a:r>
          </a:p>
          <a:p>
            <a:endParaRPr lang="en-US" altLang="ja-JP" sz="1200" dirty="0"/>
          </a:p>
          <a:p>
            <a:r>
              <a:rPr lang="en-US" altLang="ja-JP" sz="1200" dirty="0"/>
              <a:t>## </a:t>
            </a:r>
            <a:r>
              <a:rPr lang="ja-JP" altLang="en-US" sz="1200" dirty="0"/>
              <a:t>修正内容</a:t>
            </a:r>
          </a:p>
          <a:p>
            <a:r>
              <a:rPr lang="en-US" altLang="ja-JP" sz="1200" dirty="0" err="1"/>
              <a:t>user.getUserType</a:t>
            </a:r>
            <a:r>
              <a:rPr lang="en-US" altLang="ja-JP" sz="1200" dirty="0"/>
              <a:t>() </a:t>
            </a:r>
            <a:r>
              <a:rPr lang="ja-JP" altLang="en-US" sz="1200" dirty="0"/>
              <a:t>の値を</a:t>
            </a:r>
            <a:r>
              <a:rPr lang="en-US" altLang="ja-JP" sz="1200" dirty="0"/>
              <a:t>'roles_permissions.md'</a:t>
            </a:r>
            <a:r>
              <a:rPr lang="ja-JP" altLang="en-US" sz="1200" dirty="0"/>
              <a:t>のロール</a:t>
            </a:r>
            <a:r>
              <a:rPr lang="en-US" altLang="ja-JP" sz="1200" dirty="0"/>
              <a:t>ID</a:t>
            </a:r>
            <a:r>
              <a:rPr lang="ja-JP" altLang="en-US" sz="1200" dirty="0"/>
              <a:t>と厳密に照合し、一致する場合は </a:t>
            </a:r>
            <a:r>
              <a:rPr lang="en-US" altLang="ja-JP" sz="1200" dirty="0"/>
              <a:t>"ROLE_" + </a:t>
            </a:r>
            <a:r>
              <a:rPr lang="ja-JP" altLang="en-US" sz="1200" dirty="0"/>
              <a:t>ロール</a:t>
            </a:r>
            <a:r>
              <a:rPr lang="en-US" altLang="ja-JP" sz="1200" dirty="0"/>
              <a:t>ID </a:t>
            </a:r>
            <a:r>
              <a:rPr lang="ja-JP" altLang="en-US" sz="1200" dirty="0"/>
              <a:t>を返す</a:t>
            </a:r>
          </a:p>
          <a:p>
            <a:endParaRPr lang="ja-JP" altLang="en-US" sz="1200" dirty="0"/>
          </a:p>
          <a:p>
            <a:r>
              <a:rPr lang="ja-JP" altLang="en-US" sz="1200" dirty="0"/>
              <a:t>一致しない場合は </a:t>
            </a:r>
            <a:r>
              <a:rPr lang="en-US" altLang="ja-JP" sz="1200" dirty="0"/>
              <a:t>"ROLE_USER" </a:t>
            </a:r>
            <a:r>
              <a:rPr lang="ja-JP" altLang="en-US" sz="1200" dirty="0"/>
              <a:t>を返す（既存の警告ログも出力）</a:t>
            </a:r>
          </a:p>
          <a:p>
            <a:endParaRPr lang="ja-JP" altLang="en-US" sz="1200" dirty="0"/>
          </a:p>
          <a:p>
            <a:r>
              <a:rPr lang="en-US" altLang="ja-JP" sz="1200" dirty="0"/>
              <a:t># </a:t>
            </a:r>
            <a:r>
              <a:rPr lang="ja-JP" altLang="en-US" sz="1200" dirty="0"/>
              <a:t>動作確認</a:t>
            </a:r>
          </a:p>
          <a:p>
            <a:r>
              <a:rPr lang="ja-JP" altLang="en-US" sz="1200" dirty="0"/>
              <a:t>不要（手動確認）</a:t>
            </a:r>
          </a:p>
        </p:txBody>
      </p:sp>
    </p:spTree>
    <p:extLst>
      <p:ext uri="{BB962C8B-B14F-4D97-AF65-F5344CB8AC3E}">
        <p14:creationId xmlns:p14="http://schemas.microsoft.com/office/powerpoint/2010/main" val="411943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C2AA-F120-2C37-41AF-715BF138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5D9368-8AA0-F318-B189-F05DA657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修正例②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545B61-8C58-4A9D-ED1A-87328EB7EEFB}"/>
              </a:ext>
            </a:extLst>
          </p:cNvPr>
          <p:cNvSpPr txBox="1"/>
          <p:nvPr/>
        </p:nvSpPr>
        <p:spPr>
          <a:xfrm>
            <a:off x="838200" y="1597997"/>
            <a:ext cx="89892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お知らせが表示されない問題を修正。</a:t>
            </a:r>
            <a:endParaRPr lang="en-US" altLang="ja-JP" dirty="0"/>
          </a:p>
          <a:p>
            <a:r>
              <a:rPr lang="ja-JP" altLang="en-US" dirty="0"/>
              <a:t>原因は、</a:t>
            </a:r>
            <a:r>
              <a:rPr lang="ja-JP" altLang="en-US" b="1" dirty="0"/>
              <a:t>テーブルに存在しないカラムを</a:t>
            </a:r>
            <a:r>
              <a:rPr lang="en-US" altLang="ja-JP" b="1" dirty="0"/>
              <a:t>SELECT</a:t>
            </a:r>
            <a:r>
              <a:rPr lang="ja-JP" altLang="en-US" b="1" dirty="0"/>
              <a:t>しようとしている</a:t>
            </a:r>
            <a:r>
              <a:rPr lang="ja-JP" altLang="en-US" dirty="0"/>
              <a:t>。</a:t>
            </a:r>
            <a:endParaRPr lang="en-US" altLang="ja-JP" dirty="0"/>
          </a:p>
          <a:p>
            <a:r>
              <a:rPr lang="ja-JP" altLang="en-US" dirty="0"/>
              <a:t>（カラム名の実装が設計書とあっていない部分がある）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b="1" dirty="0"/>
              <a:t>3</a:t>
            </a:r>
            <a:r>
              <a:rPr lang="ja-JP" altLang="en-US" b="1" dirty="0"/>
              <a:t>回の修正依頼で正常に表示成功</a:t>
            </a:r>
            <a:endParaRPr lang="en-US" altLang="ja-JP" b="1" dirty="0"/>
          </a:p>
          <a:p>
            <a:r>
              <a:rPr lang="en-US" altLang="ja-JP" dirty="0"/>
              <a:t>- DB</a:t>
            </a:r>
            <a:r>
              <a:rPr lang="ja-JP" altLang="en-US" dirty="0"/>
              <a:t>とのやり取りを定義しているメソッドの修正依頼</a:t>
            </a:r>
            <a:endParaRPr lang="en-US" altLang="ja-JP" dirty="0"/>
          </a:p>
          <a:p>
            <a:r>
              <a:rPr lang="ja-JP" altLang="en-US" dirty="0"/>
              <a:t>↓</a:t>
            </a:r>
            <a:endParaRPr lang="en-US" altLang="ja-JP" dirty="0"/>
          </a:p>
          <a:p>
            <a:r>
              <a:rPr lang="en-US" altLang="ja-JP" dirty="0"/>
              <a:t>- </a:t>
            </a:r>
            <a:r>
              <a:rPr lang="ja-JP" altLang="en-US" dirty="0"/>
              <a:t>そのメソッドを修正した影響範囲のメソッドの修正依頼</a:t>
            </a:r>
            <a:endParaRPr lang="en-US" altLang="ja-JP" dirty="0"/>
          </a:p>
          <a:p>
            <a:r>
              <a:rPr lang="ja-JP" altLang="en-US" dirty="0"/>
              <a:t>↓</a:t>
            </a:r>
            <a:endParaRPr lang="en-US" altLang="ja-JP" dirty="0"/>
          </a:p>
          <a:p>
            <a:r>
              <a:rPr lang="en-US" altLang="ja-JP" dirty="0"/>
              <a:t>- Entity</a:t>
            </a:r>
            <a:r>
              <a:rPr lang="ja-JP" altLang="en-US" dirty="0"/>
              <a:t>クラスのフィールド不足が漏れていたので修正依頼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86F1505-97F8-FB39-6DEF-E8220BD3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21993"/>
            <a:ext cx="7038109" cy="197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8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431</Words>
  <Application>Microsoft Office PowerPoint</Application>
  <PresentationFormat>ワイド画面</PresentationFormat>
  <Paragraphs>61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スマエンチーム検証例</vt:lpstr>
      <vt:lpstr>概要</vt:lpstr>
      <vt:lpstr>目次</vt:lpstr>
      <vt:lpstr>設計書①画面設計書</vt:lpstr>
      <vt:lpstr>設計書②権限設計書</vt:lpstr>
      <vt:lpstr>タスクリスト</vt:lpstr>
      <vt:lpstr>実装結果①</vt:lpstr>
      <vt:lpstr>未完全な実装部分</vt:lpstr>
      <vt:lpstr>修正例①</vt:lpstr>
      <vt:lpstr>修正例①</vt:lpstr>
      <vt:lpstr>修正例②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片山 竜之介</dc:creator>
  <cp:lastModifiedBy>片山 竜之介</cp:lastModifiedBy>
  <cp:revision>1</cp:revision>
  <dcterms:created xsi:type="dcterms:W3CDTF">2026-03-29T14:11:47Z</dcterms:created>
  <dcterms:modified xsi:type="dcterms:W3CDTF">2026-03-30T01:29:54Z</dcterms:modified>
</cp:coreProperties>
</file>